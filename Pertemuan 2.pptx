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69" r:id="rId4"/>
    <p:sldId id="275" r:id="rId5"/>
    <p:sldId id="273" r:id="rId6"/>
    <p:sldId id="274" r:id="rId7"/>
  </p:sldIdLst>
  <p:sldSz cx="18288000" cy="10287000"/>
  <p:notesSz cx="6858000" cy="9144000"/>
  <p:embeddedFontLst>
    <p:embeddedFont>
      <p:font typeface="Karnchang" panose="020B0604020202020204" charset="-34"/>
      <p:regular r:id="rId8"/>
    </p:embeddedFont>
    <p:embeddedFont>
      <p:font typeface="Karnchang Bold" panose="020B0604020202020204" charset="-34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20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python_operators.asp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3375"/>
            <a:ext cx="8951437" cy="161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0"/>
              </a:lnSpc>
            </a:pPr>
            <a:r>
              <a:rPr lang="en-US" sz="50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TI306 – </a:t>
            </a:r>
            <a:r>
              <a:rPr lang="en-US" sz="50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Statistika</a:t>
            </a:r>
            <a:r>
              <a:rPr lang="en-US" sz="50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endParaRPr lang="en-US" sz="50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108882"/>
            <a:ext cx="10325100" cy="3293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09"/>
              </a:lnSpc>
            </a:pPr>
            <a:r>
              <a:rPr lang="en-US" sz="12800" dirty="0" err="1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Dasar</a:t>
            </a:r>
            <a:r>
              <a:rPr lang="en-US" sz="12800" dirty="0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 </a:t>
            </a:r>
          </a:p>
          <a:p>
            <a:pPr algn="l">
              <a:lnSpc>
                <a:spcPts val="12509"/>
              </a:lnSpc>
            </a:pPr>
            <a:r>
              <a:rPr lang="en-US" sz="12800" dirty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	</a:t>
            </a:r>
            <a:r>
              <a:rPr lang="en-US" sz="12800" dirty="0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	Python</a:t>
            </a:r>
            <a:endParaRPr lang="en-US" sz="12800" dirty="0">
              <a:solidFill>
                <a:srgbClr val="000000"/>
              </a:solidFill>
              <a:latin typeface="Karnchang" panose="020B0604020202020204" charset="-34"/>
              <a:ea typeface="Karnchang Bold"/>
              <a:cs typeface="Karnchang" panose="020B0604020202020204" charset="-34"/>
              <a:sym typeface="Karnchang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8518617"/>
            <a:ext cx="7644346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Pertemuan</a:t>
            </a:r>
            <a:r>
              <a:rPr lang="en-US" sz="30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30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2 </a:t>
            </a:r>
            <a:r>
              <a:rPr lang="en-US" sz="30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|  </a:t>
            </a:r>
            <a:r>
              <a:rPr lang="en-US" sz="30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Dasar</a:t>
            </a:r>
            <a:r>
              <a:rPr lang="en-US" sz="30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Python </a:t>
            </a:r>
            <a:endParaRPr lang="en-US" sz="30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630956"/>
            <a:ext cx="65151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 err="1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Aulia</a:t>
            </a:r>
            <a:r>
              <a:rPr lang="en-US" sz="3999" dirty="0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 </a:t>
            </a:r>
            <a:r>
              <a:rPr lang="en-US" sz="3999" dirty="0" err="1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Rizqisyarifa</a:t>
            </a:r>
            <a:r>
              <a:rPr lang="en-US" sz="3999" dirty="0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, </a:t>
            </a:r>
            <a:r>
              <a:rPr lang="en-US" sz="3999" dirty="0" err="1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STr.</a:t>
            </a:r>
            <a:r>
              <a:rPr lang="en-US" sz="3999" dirty="0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 </a:t>
            </a:r>
            <a:r>
              <a:rPr lang="en-US" sz="3999" dirty="0" err="1" smtClean="0">
                <a:solidFill>
                  <a:srgbClr val="000000"/>
                </a:solidFill>
                <a:latin typeface="Karnchang" panose="020B0604020202020204" charset="-34"/>
                <a:ea typeface="Karnchang Bold"/>
                <a:cs typeface="Karnchang" panose="020B0604020202020204" charset="-34"/>
                <a:sym typeface="Karnchang Bold"/>
              </a:rPr>
              <a:t>Kom</a:t>
            </a:r>
            <a:endParaRPr lang="en-US" sz="3999" dirty="0">
              <a:solidFill>
                <a:srgbClr val="000000"/>
              </a:solidFill>
              <a:latin typeface="Karnchang" panose="020B0604020202020204" charset="-34"/>
              <a:ea typeface="Karnchang Bold"/>
              <a:cs typeface="Karnchang" panose="020B0604020202020204" charset="-34"/>
              <a:sym typeface="Karnchang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754447" y="-3093732"/>
            <a:ext cx="18901247" cy="17982775"/>
            <a:chOff x="0" y="0"/>
            <a:chExt cx="25201662" cy="23977033"/>
          </a:xfrm>
        </p:grpSpPr>
        <p:grpSp>
          <p:nvGrpSpPr>
            <p:cNvPr id="7" name="Group 7"/>
            <p:cNvGrpSpPr/>
            <p:nvPr/>
          </p:nvGrpSpPr>
          <p:grpSpPr>
            <a:xfrm rot="2252144">
              <a:off x="2887185" y="2861146"/>
              <a:ext cx="14259267" cy="14323066"/>
              <a:chOff x="0" y="0"/>
              <a:chExt cx="2816645" cy="282924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2252144">
              <a:off x="4620058" y="6213209"/>
              <a:ext cx="14259267" cy="14323066"/>
              <a:chOff x="0" y="0"/>
              <a:chExt cx="2816645" cy="282924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2252144">
              <a:off x="8055210" y="6792821"/>
              <a:ext cx="14259267" cy="14323066"/>
              <a:chOff x="0" y="0"/>
              <a:chExt cx="2816645" cy="282924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592941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4293776" y="1164537"/>
            <a:ext cx="9700448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b="1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Library</a:t>
            </a:r>
            <a:endParaRPr lang="en-US" sz="6500" b="1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960029" y="2698740"/>
            <a:ext cx="14367942" cy="143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800" dirty="0"/>
              <a:t>Library Python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kumpulan</a:t>
            </a:r>
            <a:r>
              <a:rPr lang="en-US" sz="2800" dirty="0"/>
              <a:t> </a:t>
            </a:r>
            <a:r>
              <a:rPr lang="en-US" sz="2800" dirty="0" err="1"/>
              <a:t>modul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fungsi</a:t>
            </a:r>
            <a:r>
              <a:rPr lang="en-US" sz="2800" dirty="0"/>
              <a:t> yang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ditulis</a:t>
            </a:r>
            <a:r>
              <a:rPr lang="en-US" sz="2800" dirty="0"/>
              <a:t> </a:t>
            </a:r>
            <a:r>
              <a:rPr lang="en-US" sz="2800" dirty="0" err="1"/>
              <a:t>sebelumnya</a:t>
            </a:r>
            <a:r>
              <a:rPr lang="en-US" sz="2800" dirty="0"/>
              <a:t> yang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oleh</a:t>
            </a:r>
            <a:r>
              <a:rPr lang="en-US" sz="2800" dirty="0"/>
              <a:t> </a:t>
            </a:r>
            <a:r>
              <a:rPr lang="en-US" sz="2800" dirty="0" err="1"/>
              <a:t>pengembang</a:t>
            </a:r>
            <a:r>
              <a:rPr lang="en-US" sz="2800" dirty="0"/>
              <a:t> Python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melakukan</a:t>
            </a:r>
            <a:r>
              <a:rPr lang="en-US" sz="2800" dirty="0"/>
              <a:t> </a:t>
            </a:r>
            <a:r>
              <a:rPr lang="en-US" sz="2800" dirty="0" err="1"/>
              <a:t>berbagai</a:t>
            </a:r>
            <a:r>
              <a:rPr lang="en-US" sz="2800" dirty="0"/>
              <a:t> </a:t>
            </a:r>
            <a:r>
              <a:rPr lang="en-US" sz="2800" dirty="0" err="1"/>
              <a:t>tugas</a:t>
            </a:r>
            <a:r>
              <a:rPr lang="en-US" sz="2800" dirty="0"/>
              <a:t> </a:t>
            </a:r>
            <a:r>
              <a:rPr lang="en-US" sz="2800" dirty="0" err="1"/>
              <a:t>tanpa</a:t>
            </a:r>
            <a:r>
              <a:rPr lang="en-US" sz="2800" dirty="0"/>
              <a:t> </a:t>
            </a:r>
            <a:r>
              <a:rPr lang="en-US" sz="2800" dirty="0" err="1"/>
              <a:t>perlu</a:t>
            </a:r>
            <a:r>
              <a:rPr lang="en-US" sz="2800" dirty="0"/>
              <a:t> </a:t>
            </a:r>
            <a:r>
              <a:rPr lang="en-US" sz="2800" dirty="0" err="1"/>
              <a:t>menulis</a:t>
            </a:r>
            <a:r>
              <a:rPr lang="en-US" sz="2800" dirty="0"/>
              <a:t> </a:t>
            </a:r>
            <a:r>
              <a:rPr lang="en-US" sz="2800" dirty="0" err="1"/>
              <a:t>kode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awal</a:t>
            </a:r>
            <a:r>
              <a:rPr lang="en-US" sz="2800" dirty="0"/>
              <a:t>.</a:t>
            </a:r>
            <a:endParaRPr lang="en-US" sz="2700" dirty="0" smtClean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621459" y="349050"/>
            <a:ext cx="2168307" cy="44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 5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9723" y="9258300"/>
            <a:ext cx="6961669" cy="627749"/>
            <a:chOff x="0" y="0"/>
            <a:chExt cx="1833526" cy="16533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33526" cy="165333"/>
            </a:xfrm>
            <a:custGeom>
              <a:avLst/>
              <a:gdLst/>
              <a:ahLst/>
              <a:cxnLst/>
              <a:rect l="l" t="t" r="r" b="b"/>
              <a:pathLst>
                <a:path w="1833526" h="165333">
                  <a:moveTo>
                    <a:pt x="16681" y="0"/>
                  </a:moveTo>
                  <a:lnTo>
                    <a:pt x="1816845" y="0"/>
                  </a:lnTo>
                  <a:cubicBezTo>
                    <a:pt x="1821269" y="0"/>
                    <a:pt x="1825512" y="1757"/>
                    <a:pt x="1828640" y="4886"/>
                  </a:cubicBezTo>
                  <a:cubicBezTo>
                    <a:pt x="1831769" y="8014"/>
                    <a:pt x="1833526" y="12257"/>
                    <a:pt x="1833526" y="16681"/>
                  </a:cubicBezTo>
                  <a:lnTo>
                    <a:pt x="1833526" y="148652"/>
                  </a:lnTo>
                  <a:cubicBezTo>
                    <a:pt x="1833526" y="157865"/>
                    <a:pt x="1826058" y="165333"/>
                    <a:pt x="1816845" y="165333"/>
                  </a:cubicBezTo>
                  <a:lnTo>
                    <a:pt x="16681" y="165333"/>
                  </a:lnTo>
                  <a:cubicBezTo>
                    <a:pt x="7468" y="165333"/>
                    <a:pt x="0" y="157865"/>
                    <a:pt x="0" y="148652"/>
                  </a:cubicBezTo>
                  <a:lnTo>
                    <a:pt x="0" y="16681"/>
                  </a:lnTo>
                  <a:cubicBezTo>
                    <a:pt x="0" y="7468"/>
                    <a:pt x="7468" y="0"/>
                    <a:pt x="16681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833526" cy="203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502222"/>
              </p:ext>
            </p:extLst>
          </p:nvPr>
        </p:nvGraphicFramePr>
        <p:xfrm>
          <a:off x="2286000" y="4492097"/>
          <a:ext cx="12954000" cy="3352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81400"/>
                <a:gridCol w="4343400"/>
                <a:gridCol w="502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Library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Penginstallan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Kegunaan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Numpy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pip install </a:t>
                      </a:r>
                      <a:r>
                        <a:rPr lang="en-US" sz="2800" dirty="0" err="1" smtClean="0"/>
                        <a:t>numpy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2800" dirty="0" smtClean="0"/>
                        <a:t>komputasi numerik, pengolahan array dan operasi matematika.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Pandas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pip install pandas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analisis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dan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manipulasi</a:t>
                      </a:r>
                      <a:r>
                        <a:rPr lang="en-US" sz="2800" dirty="0" smtClean="0"/>
                        <a:t> data, </a:t>
                      </a:r>
                      <a:r>
                        <a:rPr lang="en-US" sz="2800" dirty="0" err="1" smtClean="0"/>
                        <a:t>seperti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operasi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pada</a:t>
                      </a:r>
                      <a:r>
                        <a:rPr lang="en-US" sz="2800" dirty="0" smtClean="0"/>
                        <a:t> data frame.</a:t>
                      </a:r>
                      <a:endParaRPr lang="en-US" sz="2800" dirty="0"/>
                    </a:p>
                  </a:txBody>
                  <a:tcPr/>
                </a:tc>
              </a:tr>
              <a:tr h="44820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Matplotlib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pip</a:t>
                      </a:r>
                      <a:r>
                        <a:rPr lang="en-US" sz="2800" baseline="0" dirty="0" smtClean="0"/>
                        <a:t> install </a:t>
                      </a:r>
                      <a:r>
                        <a:rPr lang="en-US" sz="2800" baseline="0" dirty="0" err="1" smtClean="0"/>
                        <a:t>matplotlib</a:t>
                      </a:r>
                      <a:endParaRPr lang="en-US" sz="2800" dirty="0" smtClean="0"/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visualisasi</a:t>
                      </a:r>
                      <a:r>
                        <a:rPr lang="en-US" sz="2800" dirty="0" smtClean="0"/>
                        <a:t> data (</a:t>
                      </a:r>
                      <a:r>
                        <a:rPr lang="en-US" sz="2800" dirty="0" err="1" smtClean="0"/>
                        <a:t>grafik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dan</a:t>
                      </a:r>
                      <a:r>
                        <a:rPr lang="en-US" sz="2800" dirty="0" smtClean="0"/>
                        <a:t> plot).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091" y="349050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981200" y="2747458"/>
            <a:ext cx="14367942" cy="462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just">
              <a:lnSpc>
                <a:spcPts val="3779"/>
              </a:lnSpc>
              <a:buFont typeface="+mj-lt"/>
              <a:buAutoNum type="arabicPeriod"/>
            </a:pPr>
            <a:endParaRPr lang="en-US" sz="2700" dirty="0" smtClean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629723" y="9258300"/>
            <a:ext cx="6961669" cy="627749"/>
            <a:chOff x="0" y="0"/>
            <a:chExt cx="1833526" cy="16533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33526" cy="165333"/>
            </a:xfrm>
            <a:custGeom>
              <a:avLst/>
              <a:gdLst/>
              <a:ahLst/>
              <a:cxnLst/>
              <a:rect l="l" t="t" r="r" b="b"/>
              <a:pathLst>
                <a:path w="1833526" h="165333">
                  <a:moveTo>
                    <a:pt x="16681" y="0"/>
                  </a:moveTo>
                  <a:lnTo>
                    <a:pt x="1816845" y="0"/>
                  </a:lnTo>
                  <a:cubicBezTo>
                    <a:pt x="1821269" y="0"/>
                    <a:pt x="1825512" y="1757"/>
                    <a:pt x="1828640" y="4886"/>
                  </a:cubicBezTo>
                  <a:cubicBezTo>
                    <a:pt x="1831769" y="8014"/>
                    <a:pt x="1833526" y="12257"/>
                    <a:pt x="1833526" y="16681"/>
                  </a:cubicBezTo>
                  <a:lnTo>
                    <a:pt x="1833526" y="148652"/>
                  </a:lnTo>
                  <a:cubicBezTo>
                    <a:pt x="1833526" y="157865"/>
                    <a:pt x="1826058" y="165333"/>
                    <a:pt x="1816845" y="165333"/>
                  </a:cubicBezTo>
                  <a:lnTo>
                    <a:pt x="16681" y="165333"/>
                  </a:lnTo>
                  <a:cubicBezTo>
                    <a:pt x="7468" y="165333"/>
                    <a:pt x="0" y="157865"/>
                    <a:pt x="0" y="148652"/>
                  </a:cubicBezTo>
                  <a:lnTo>
                    <a:pt x="0" y="16681"/>
                  </a:lnTo>
                  <a:cubicBezTo>
                    <a:pt x="0" y="7468"/>
                    <a:pt x="7468" y="0"/>
                    <a:pt x="16681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833526" cy="203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627293"/>
              </p:ext>
            </p:extLst>
          </p:nvPr>
        </p:nvGraphicFramePr>
        <p:xfrm>
          <a:off x="2971800" y="2095500"/>
          <a:ext cx="12192000" cy="61264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096000"/>
                <a:gridCol w="6096000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6000" dirty="0" smtClean="0"/>
                        <a:t>Operator </a:t>
                      </a:r>
                      <a:r>
                        <a:rPr lang="en-US" sz="6000" dirty="0" err="1" smtClean="0"/>
                        <a:t>Aritmatika</a:t>
                      </a:r>
                      <a:endParaRPr lang="en-US" sz="6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+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Penambahan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-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Pengurangan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*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Perkalian</a:t>
                      </a:r>
                      <a:r>
                        <a:rPr lang="en-US" sz="3200" dirty="0" smtClean="0"/>
                        <a:t> 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/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Pembagian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//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Pembagian</a:t>
                      </a:r>
                      <a:r>
                        <a:rPr lang="en-US" sz="3200" baseline="0" dirty="0" smtClean="0"/>
                        <a:t> (</a:t>
                      </a:r>
                      <a:r>
                        <a:rPr lang="en-US" sz="3200" baseline="0" dirty="0" err="1" smtClean="0"/>
                        <a:t>Dibulatkan</a:t>
                      </a:r>
                      <a:r>
                        <a:rPr lang="en-US" sz="3200" baseline="0" dirty="0" smtClean="0"/>
                        <a:t> </a:t>
                      </a:r>
                      <a:r>
                        <a:rPr lang="en-US" sz="3200" baseline="0" dirty="0" err="1" smtClean="0"/>
                        <a:t>ke</a:t>
                      </a:r>
                      <a:r>
                        <a:rPr lang="en-US" sz="3200" baseline="0" dirty="0" smtClean="0"/>
                        <a:t> </a:t>
                      </a:r>
                      <a:r>
                        <a:rPr lang="en-US" sz="3200" baseline="0" dirty="0" err="1" smtClean="0"/>
                        <a:t>bawah</a:t>
                      </a:r>
                      <a:r>
                        <a:rPr lang="en-US" sz="3200" baseline="0" dirty="0" smtClean="0"/>
                        <a:t>)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%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Modulus (</a:t>
                      </a:r>
                      <a:r>
                        <a:rPr lang="en-US" sz="3200" dirty="0" err="1" smtClean="0"/>
                        <a:t>Sisa</a:t>
                      </a:r>
                      <a:r>
                        <a:rPr lang="en-US" sz="3200" dirty="0" smtClean="0"/>
                        <a:t> </a:t>
                      </a:r>
                      <a:r>
                        <a:rPr lang="en-US" sz="3200" dirty="0" err="1" smtClean="0"/>
                        <a:t>hasil</a:t>
                      </a:r>
                      <a:r>
                        <a:rPr lang="en-US" sz="3200" baseline="0" dirty="0" smtClean="0"/>
                        <a:t> </a:t>
                      </a:r>
                      <a:r>
                        <a:rPr lang="en-US" sz="3200" baseline="0" dirty="0" err="1" smtClean="0"/>
                        <a:t>bagi</a:t>
                      </a:r>
                      <a:r>
                        <a:rPr lang="en-US" sz="3200" baseline="0" dirty="0" smtClean="0"/>
                        <a:t>)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**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Pemangkatan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3200" dirty="0" err="1" smtClean="0"/>
                        <a:t>Pelajari</a:t>
                      </a:r>
                      <a:r>
                        <a:rPr lang="en-US" sz="3200" dirty="0" smtClean="0"/>
                        <a:t> </a:t>
                      </a:r>
                      <a:r>
                        <a:rPr lang="en-US" sz="3200" dirty="0" err="1" smtClean="0"/>
                        <a:t>selengkapnya</a:t>
                      </a:r>
                      <a:r>
                        <a:rPr lang="en-US" sz="3200" dirty="0" smtClean="0"/>
                        <a:t>:</a:t>
                      </a:r>
                      <a:r>
                        <a:rPr lang="en-US" sz="3200" baseline="0" dirty="0" smtClean="0"/>
                        <a:t/>
                      </a:r>
                      <a:br>
                        <a:rPr lang="en-US" sz="3200" baseline="0" dirty="0" smtClean="0"/>
                      </a:br>
                      <a:r>
                        <a:rPr lang="en-US" sz="3200" dirty="0" smtClean="0">
                          <a:hlinkClick r:id="rId2"/>
                        </a:rPr>
                        <a:t>Python Operators (w3schools.com)</a:t>
                      </a:r>
                      <a:endParaRPr lang="en-US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857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5896" y="540960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50982" y="-5556796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57951" y="5458040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960029" y="2775595"/>
            <a:ext cx="14367942" cy="462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just">
              <a:lnSpc>
                <a:spcPts val="3779"/>
              </a:lnSpc>
              <a:buFont typeface="+mj-lt"/>
              <a:buAutoNum type="arabicPeriod"/>
            </a:pPr>
            <a:endParaRPr lang="en-US" sz="2700" dirty="0" smtClean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5644332" y="345689"/>
            <a:ext cx="2042119" cy="650325"/>
            <a:chOff x="0" y="0"/>
            <a:chExt cx="537842" cy="1712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600288" y="377187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608552" y="9286437"/>
            <a:ext cx="6961669" cy="627749"/>
            <a:chOff x="0" y="0"/>
            <a:chExt cx="1833526" cy="16533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33526" cy="165333"/>
            </a:xfrm>
            <a:custGeom>
              <a:avLst/>
              <a:gdLst/>
              <a:ahLst/>
              <a:cxnLst/>
              <a:rect l="l" t="t" r="r" b="b"/>
              <a:pathLst>
                <a:path w="1833526" h="165333">
                  <a:moveTo>
                    <a:pt x="16681" y="0"/>
                  </a:moveTo>
                  <a:lnTo>
                    <a:pt x="1816845" y="0"/>
                  </a:lnTo>
                  <a:cubicBezTo>
                    <a:pt x="1821269" y="0"/>
                    <a:pt x="1825512" y="1757"/>
                    <a:pt x="1828640" y="4886"/>
                  </a:cubicBezTo>
                  <a:cubicBezTo>
                    <a:pt x="1831769" y="8014"/>
                    <a:pt x="1833526" y="12257"/>
                    <a:pt x="1833526" y="16681"/>
                  </a:cubicBezTo>
                  <a:lnTo>
                    <a:pt x="1833526" y="148652"/>
                  </a:lnTo>
                  <a:cubicBezTo>
                    <a:pt x="1833526" y="157865"/>
                    <a:pt x="1826058" y="165333"/>
                    <a:pt x="1816845" y="165333"/>
                  </a:cubicBezTo>
                  <a:lnTo>
                    <a:pt x="16681" y="165333"/>
                  </a:lnTo>
                  <a:cubicBezTo>
                    <a:pt x="7468" y="165333"/>
                    <a:pt x="0" y="157865"/>
                    <a:pt x="0" y="148652"/>
                  </a:cubicBezTo>
                  <a:lnTo>
                    <a:pt x="0" y="16681"/>
                  </a:lnTo>
                  <a:cubicBezTo>
                    <a:pt x="0" y="7468"/>
                    <a:pt x="7468" y="0"/>
                    <a:pt x="16681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833526" cy="203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681420" y="2257411"/>
            <a:ext cx="14882818" cy="3233584"/>
            <a:chOff x="1681737" y="2505574"/>
            <a:chExt cx="14882818" cy="3233584"/>
          </a:xfrm>
        </p:grpSpPr>
        <p:sp>
          <p:nvSpPr>
            <p:cNvPr id="34" name="Freeform 35"/>
            <p:cNvSpPr/>
            <p:nvPr/>
          </p:nvSpPr>
          <p:spPr>
            <a:xfrm>
              <a:off x="1681737" y="2540911"/>
              <a:ext cx="659308" cy="659308"/>
            </a:xfrm>
            <a:custGeom>
              <a:avLst/>
              <a:gdLst/>
              <a:ahLst/>
              <a:cxnLst/>
              <a:rect l="l" t="t" r="r" b="b"/>
              <a:pathLst>
                <a:path w="659308" h="659308">
                  <a:moveTo>
                    <a:pt x="0" y="0"/>
                  </a:moveTo>
                  <a:lnTo>
                    <a:pt x="659308" y="0"/>
                  </a:lnTo>
                  <a:lnTo>
                    <a:pt x="659308" y="659308"/>
                  </a:lnTo>
                  <a:lnTo>
                    <a:pt x="0" y="65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TextBox 38"/>
            <p:cNvSpPr txBox="1"/>
            <p:nvPr/>
          </p:nvSpPr>
          <p:spPr>
            <a:xfrm>
              <a:off x="1681737" y="3197512"/>
              <a:ext cx="14882818" cy="2541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38" name="TextBox 39"/>
            <p:cNvSpPr txBox="1"/>
            <p:nvPr/>
          </p:nvSpPr>
          <p:spPr>
            <a:xfrm>
              <a:off x="2529199" y="2505574"/>
              <a:ext cx="6867586" cy="499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r>
                <a:rPr lang="en-US" sz="4000" b="1" dirty="0" err="1" smtClean="0">
                  <a:solidFill>
                    <a:srgbClr val="243342"/>
                  </a:solidFill>
                  <a:latin typeface="Karnchang Bold"/>
                  <a:ea typeface="Karnchang Bold"/>
                  <a:cs typeface="Karnchang Bold"/>
                  <a:sym typeface="Karnchang Bold"/>
                </a:rPr>
                <a:t>Tipe</a:t>
              </a:r>
              <a:r>
                <a:rPr lang="en-US" sz="4000" b="1" dirty="0" smtClean="0">
                  <a:solidFill>
                    <a:srgbClr val="243342"/>
                  </a:solidFill>
                  <a:latin typeface="Karnchang Bold"/>
                  <a:ea typeface="Karnchang Bold"/>
                  <a:cs typeface="Karnchang Bold"/>
                  <a:sym typeface="Karnchang Bold"/>
                </a:rPr>
                <a:t> Data</a:t>
              </a:r>
              <a:endParaRPr lang="en-US" sz="4000" b="1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693691" y="5975846"/>
            <a:ext cx="14882818" cy="3198247"/>
            <a:chOff x="1728717" y="6212315"/>
            <a:chExt cx="14882818" cy="3198247"/>
          </a:xfrm>
        </p:grpSpPr>
        <p:sp>
          <p:nvSpPr>
            <p:cNvPr id="49" name="Freeform 35"/>
            <p:cNvSpPr/>
            <p:nvPr/>
          </p:nvSpPr>
          <p:spPr>
            <a:xfrm>
              <a:off x="1728717" y="6212315"/>
              <a:ext cx="659308" cy="659308"/>
            </a:xfrm>
            <a:custGeom>
              <a:avLst/>
              <a:gdLst/>
              <a:ahLst/>
              <a:cxnLst/>
              <a:rect l="l" t="t" r="r" b="b"/>
              <a:pathLst>
                <a:path w="659308" h="659308">
                  <a:moveTo>
                    <a:pt x="0" y="0"/>
                  </a:moveTo>
                  <a:lnTo>
                    <a:pt x="659308" y="0"/>
                  </a:lnTo>
                  <a:lnTo>
                    <a:pt x="659308" y="659308"/>
                  </a:lnTo>
                  <a:lnTo>
                    <a:pt x="0" y="65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2" name="TextBox 38"/>
            <p:cNvSpPr txBox="1"/>
            <p:nvPr/>
          </p:nvSpPr>
          <p:spPr>
            <a:xfrm>
              <a:off x="1728717" y="6868916"/>
              <a:ext cx="14882818" cy="2541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53" name="TextBox 39"/>
            <p:cNvSpPr txBox="1"/>
            <p:nvPr/>
          </p:nvSpPr>
          <p:spPr>
            <a:xfrm>
              <a:off x="2594219" y="6257076"/>
              <a:ext cx="6867586" cy="499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r>
                <a:rPr lang="en-US" sz="4000" b="1" dirty="0" err="1" smtClean="0">
                  <a:solidFill>
                    <a:srgbClr val="243342"/>
                  </a:solidFill>
                  <a:latin typeface="Karnchang Bold"/>
                  <a:ea typeface="Karnchang Bold"/>
                  <a:cs typeface="Karnchang Bold"/>
                  <a:sym typeface="Karnchang Bold"/>
                </a:rPr>
                <a:t>Jenis</a:t>
              </a:r>
              <a:r>
                <a:rPr lang="en-US" sz="4000" b="1" dirty="0" smtClean="0">
                  <a:solidFill>
                    <a:srgbClr val="243342"/>
                  </a:solidFill>
                  <a:latin typeface="Karnchang Bold"/>
                  <a:ea typeface="Karnchang Bold"/>
                  <a:cs typeface="Karnchang Bold"/>
                  <a:sym typeface="Karnchang Bold"/>
                </a:rPr>
                <a:t> </a:t>
              </a:r>
              <a:r>
                <a:rPr lang="en-US" sz="4000" b="1" dirty="0" err="1" smtClean="0">
                  <a:solidFill>
                    <a:srgbClr val="243342"/>
                  </a:solidFill>
                  <a:latin typeface="Karnchang Bold"/>
                  <a:ea typeface="Karnchang Bold"/>
                  <a:cs typeface="Karnchang Bold"/>
                  <a:sym typeface="Karnchang Bold"/>
                </a:rPr>
                <a:t>Logika</a:t>
              </a:r>
              <a:endParaRPr lang="en-US" sz="4000" b="1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759097"/>
              </p:ext>
            </p:extLst>
          </p:nvPr>
        </p:nvGraphicFramePr>
        <p:xfrm>
          <a:off x="2790560" y="3047034"/>
          <a:ext cx="12192000" cy="24003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/>
                <a:gridCol w="4064000"/>
                <a:gridCol w="4064000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 smtClean="0"/>
                        <a:t>Dasar</a:t>
                      </a:r>
                      <a:endParaRPr lang="en-US" sz="2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 smtClean="0"/>
                        <a:t>Struktur</a:t>
                      </a:r>
                      <a:endParaRPr lang="en-US" sz="2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 err="1" smtClean="0"/>
                        <a:t>Khusus</a:t>
                      </a:r>
                      <a:endParaRPr lang="en-US" sz="2600" dirty="0"/>
                    </a:p>
                  </a:txBody>
                  <a:tcPr anchor="ctr"/>
                </a:tc>
              </a:tr>
              <a:tr h="72390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 smtClean="0"/>
                        <a:t>Integer (</a:t>
                      </a:r>
                      <a:r>
                        <a:rPr lang="en-US" sz="2600" dirty="0" err="1" smtClean="0"/>
                        <a:t>int</a:t>
                      </a:r>
                      <a:r>
                        <a:rPr lang="en-US" sz="2600" dirty="0" smtClean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 smtClean="0"/>
                        <a:t>Float (float)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 smtClean="0"/>
                        <a:t>String (</a:t>
                      </a:r>
                      <a:r>
                        <a:rPr lang="en-US" sz="2600" dirty="0" err="1" smtClean="0"/>
                        <a:t>str</a:t>
                      </a:r>
                      <a:r>
                        <a:rPr lang="en-US" sz="2600" dirty="0" smtClean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 smtClean="0"/>
                        <a:t>Boolean</a:t>
                      </a:r>
                      <a:r>
                        <a:rPr lang="en-US" sz="2600" baseline="0" dirty="0" smtClean="0"/>
                        <a:t> </a:t>
                      </a:r>
                      <a:endParaRPr 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 smtClean="0"/>
                        <a:t>List</a:t>
                      </a:r>
                      <a:r>
                        <a:rPr lang="en-US" sz="2600" baseline="0" dirty="0" smtClean="0"/>
                        <a:t> (list)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baseline="0" dirty="0" smtClean="0"/>
                        <a:t>Tuple (tuple)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baseline="0" dirty="0" smtClean="0"/>
                        <a:t>Dictionary (</a:t>
                      </a:r>
                      <a:r>
                        <a:rPr lang="en-US" sz="2600" baseline="0" dirty="0" err="1" smtClean="0"/>
                        <a:t>dict</a:t>
                      </a:r>
                      <a:r>
                        <a:rPr lang="en-US" sz="2600" baseline="0" dirty="0" smtClean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baseline="0" dirty="0" smtClean="0"/>
                        <a:t>Set (set)</a:t>
                      </a:r>
                      <a:endParaRPr 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 smtClean="0"/>
                        <a:t>None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 smtClean="0"/>
                        <a:t>Complex</a:t>
                      </a:r>
                      <a:endParaRPr lang="en-US" sz="2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230295"/>
              </p:ext>
            </p:extLst>
          </p:nvPr>
        </p:nvGraphicFramePr>
        <p:xfrm>
          <a:off x="2340728" y="6812473"/>
          <a:ext cx="13987243" cy="2286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31472"/>
                <a:gridCol w="10155771"/>
              </a:tblGrid>
              <a:tr h="4434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/>
                        <a:t>Sequential Execution</a:t>
                      </a:r>
                      <a:endParaRPr lang="en-US" sz="2400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err="1" smtClean="0"/>
                        <a:t>Eksekusi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kode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secara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berurutan</a:t>
                      </a:r>
                      <a:r>
                        <a:rPr lang="en-US" sz="2400" b="0" dirty="0" smtClean="0"/>
                        <a:t>.</a:t>
                      </a:r>
                      <a:endParaRPr lang="en-US" sz="2400" b="0" dirty="0"/>
                    </a:p>
                  </a:txBody>
                  <a:tcPr/>
                </a:tc>
              </a:tr>
              <a:tr h="4434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err="1" smtClean="0"/>
                        <a:t>Kondisional</a:t>
                      </a:r>
                      <a:r>
                        <a:rPr lang="en-US" sz="2400" b="0" dirty="0" smtClean="0"/>
                        <a:t> (</a:t>
                      </a:r>
                      <a:r>
                        <a:rPr lang="en-US" sz="2400" b="0" dirty="0" err="1" smtClean="0"/>
                        <a:t>if..else</a:t>
                      </a:r>
                      <a:r>
                        <a:rPr lang="en-US" sz="2400" b="0" dirty="0" smtClean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err="1" smtClean="0"/>
                        <a:t>Logika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percabangan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berdasarkan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kondisi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tertentu</a:t>
                      </a:r>
                      <a:r>
                        <a:rPr lang="en-US" sz="2400" b="0" dirty="0" smtClean="0"/>
                        <a:t>.</a:t>
                      </a:r>
                      <a:endParaRPr lang="en-US" sz="2400" b="0" dirty="0"/>
                    </a:p>
                  </a:txBody>
                  <a:tcPr/>
                </a:tc>
              </a:tr>
              <a:tr h="4434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/>
                        <a:t>Looping (</a:t>
                      </a:r>
                      <a:r>
                        <a:rPr lang="en-US" sz="2400" b="0" dirty="0" err="1" smtClean="0"/>
                        <a:t>Perulangan</a:t>
                      </a:r>
                      <a:r>
                        <a:rPr lang="en-US" sz="2400" b="0" dirty="0" smtClean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err="1" smtClean="0"/>
                        <a:t>Eksekusi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berulang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berdasarkan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kondisi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atau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iterable</a:t>
                      </a:r>
                      <a:r>
                        <a:rPr lang="en-US" sz="2400" b="0" dirty="0" smtClean="0"/>
                        <a:t>.</a:t>
                      </a:r>
                      <a:endParaRPr lang="en-US" sz="2400" b="0" dirty="0"/>
                    </a:p>
                  </a:txBody>
                  <a:tcPr/>
                </a:tc>
              </a:tr>
              <a:tr h="4434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Blok </a:t>
                      </a:r>
                      <a:r>
                        <a:rPr lang="en-US" sz="2400" b="0" dirty="0" err="1" smtClean="0"/>
                        <a:t>kode</a:t>
                      </a:r>
                      <a:r>
                        <a:rPr lang="en-US" sz="2400" b="0" dirty="0" smtClean="0"/>
                        <a:t> yang </a:t>
                      </a:r>
                      <a:r>
                        <a:rPr lang="en-US" sz="2400" b="0" dirty="0" err="1" smtClean="0"/>
                        <a:t>dapat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digunakan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kembali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untuk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mengurangi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pengulangan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kode</a:t>
                      </a:r>
                      <a:r>
                        <a:rPr lang="en-US" sz="2400" b="0" dirty="0" smtClean="0"/>
                        <a:t>.</a:t>
                      </a:r>
                      <a:endParaRPr lang="en-US" sz="2400" b="0" dirty="0"/>
                    </a:p>
                  </a:txBody>
                  <a:tcPr/>
                </a:tc>
              </a:tr>
              <a:tr h="4434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err="1" smtClean="0"/>
                        <a:t>Eksekusi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Berdasarkan</a:t>
                      </a:r>
                      <a:r>
                        <a:rPr lang="en-US" sz="2400" b="0" dirty="0" smtClean="0"/>
                        <a:t>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err="1" smtClean="0"/>
                        <a:t>Eksekusi</a:t>
                      </a:r>
                      <a:r>
                        <a:rPr lang="en-US" sz="2400" b="0" dirty="0" smtClean="0"/>
                        <a:t> program yang </a:t>
                      </a:r>
                      <a:r>
                        <a:rPr lang="en-US" sz="2400" b="0" dirty="0" err="1" smtClean="0"/>
                        <a:t>bergantung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pada</a:t>
                      </a:r>
                      <a:r>
                        <a:rPr lang="en-US" sz="2400" b="0" dirty="0" smtClean="0"/>
                        <a:t> input </a:t>
                      </a:r>
                      <a:r>
                        <a:rPr lang="en-US" sz="2400" b="0" dirty="0" err="1" smtClean="0"/>
                        <a:t>dari</a:t>
                      </a:r>
                      <a:r>
                        <a:rPr lang="en-US" sz="2400" b="0" dirty="0" smtClean="0"/>
                        <a:t> </a:t>
                      </a:r>
                      <a:r>
                        <a:rPr lang="en-US" sz="2400" b="0" dirty="0" err="1" smtClean="0"/>
                        <a:t>pengguna</a:t>
                      </a:r>
                      <a:r>
                        <a:rPr lang="en-US" sz="2400" b="0" dirty="0" smtClean="0"/>
                        <a:t>.</a:t>
                      </a:r>
                      <a:endParaRPr lang="en-US" sz="2400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007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0330" y="419613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5825009" y="4454236"/>
            <a:ext cx="6584507" cy="81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b="1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Terimakasih</a:t>
            </a:r>
            <a:endParaRPr lang="en-US" sz="6500" b="1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9723" y="9258300"/>
            <a:ext cx="6961669" cy="627749"/>
            <a:chOff x="0" y="0"/>
            <a:chExt cx="1833526" cy="16533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33526" cy="165333"/>
            </a:xfrm>
            <a:custGeom>
              <a:avLst/>
              <a:gdLst/>
              <a:ahLst/>
              <a:cxnLst/>
              <a:rect l="l" t="t" r="r" b="b"/>
              <a:pathLst>
                <a:path w="1833526" h="165333">
                  <a:moveTo>
                    <a:pt x="16681" y="0"/>
                  </a:moveTo>
                  <a:lnTo>
                    <a:pt x="1816845" y="0"/>
                  </a:lnTo>
                  <a:cubicBezTo>
                    <a:pt x="1821269" y="0"/>
                    <a:pt x="1825512" y="1757"/>
                    <a:pt x="1828640" y="4886"/>
                  </a:cubicBezTo>
                  <a:cubicBezTo>
                    <a:pt x="1831769" y="8014"/>
                    <a:pt x="1833526" y="12257"/>
                    <a:pt x="1833526" y="16681"/>
                  </a:cubicBezTo>
                  <a:lnTo>
                    <a:pt x="1833526" y="148652"/>
                  </a:lnTo>
                  <a:cubicBezTo>
                    <a:pt x="1833526" y="157865"/>
                    <a:pt x="1826058" y="165333"/>
                    <a:pt x="1816845" y="165333"/>
                  </a:cubicBezTo>
                  <a:lnTo>
                    <a:pt x="16681" y="165333"/>
                  </a:lnTo>
                  <a:cubicBezTo>
                    <a:pt x="7468" y="165333"/>
                    <a:pt x="0" y="157865"/>
                    <a:pt x="0" y="148652"/>
                  </a:cubicBezTo>
                  <a:lnTo>
                    <a:pt x="0" y="16681"/>
                  </a:lnTo>
                  <a:cubicBezTo>
                    <a:pt x="0" y="7468"/>
                    <a:pt x="7468" y="0"/>
                    <a:pt x="16681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833526" cy="203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50144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356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210</Words>
  <Application>Microsoft Office PowerPoint</Application>
  <PresentationFormat>Custom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Karnchang</vt:lpstr>
      <vt:lpstr>Karnchang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Hitam abu-abu minimalis geometris seminar proposal presentasi</dc:title>
  <dc:creator>asus vivobook</dc:creator>
  <cp:lastModifiedBy>asus vivobook</cp:lastModifiedBy>
  <cp:revision>28</cp:revision>
  <dcterms:created xsi:type="dcterms:W3CDTF">2006-08-16T00:00:00Z</dcterms:created>
  <dcterms:modified xsi:type="dcterms:W3CDTF">2024-09-25T01:13:00Z</dcterms:modified>
  <dc:identifier>DAGRCP2ngE4</dc:identifier>
</cp:coreProperties>
</file>